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75DF07-1F6D-416E-947E-4654036944EE}">
  <a:tblStyle styleId="{AA75DF07-1F6D-416E-947E-4654036944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gif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71950"/>
            <a:ext cx="11049000" cy="660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06104"/>
            <a:ext cx="1619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834729"/>
            <a:ext cx="11601450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House Price Prediction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632894"/>
            <a:ext cx="9048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An End-to-End Exploration of Predictive Modeling &amp; Market Segmentation in India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499" y="4467225"/>
            <a:ext cx="415815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Presenter: </a:t>
            </a:r>
            <a:r>
              <a:rPr lang="en-US" sz="2000" b="1" i="0" u="none" strike="noStrike" cap="none" dirty="0">
                <a:solidFill>
                  <a:srgbClr val="3B82F6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MODASSIR QUAISAR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842234" y="4528095"/>
            <a:ext cx="477826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Analyzing 12,000 Property Records Across 5 Major Metro Hubs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76375"/>
            <a:ext cx="5238750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858000" y="1857375"/>
            <a:ext cx="43815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"Our goal is simple: avoid messy data and build a stable, modular workspace to get a complete view of the market's layout."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81125" y="1628775"/>
            <a:ext cx="44291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Problem Space: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Real estate valuation is highly multi-dimensional, influenced by layout, city location, and city-center proximity.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381125" y="2686050"/>
            <a:ext cx="44291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Our Multi-Phase Approach: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1681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738437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2000250" y="3133725"/>
            <a:ext cx="38100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Data Cleaning: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Enforcing physical real-world logic rules.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000250" y="3886200"/>
            <a:ext cx="38100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Classification: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Categorizing neighborhood tiers.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000250" y="4638675"/>
            <a:ext cx="38100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Regression: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Maximizing price prediction accuracy.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2000250" y="5391150"/>
            <a:ext cx="3810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Clustering: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Socioeconomic market grouping.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1625" y="3186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1625" y="39385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71625" y="46910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71625" y="54435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Executive Summary &amp; High-Level Scope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" y="1476375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1476375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3850" y="1476375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" y="3516510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3516510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3850" y="3516510"/>
            <a:ext cx="3314700" cy="184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171575" y="2200275"/>
            <a:ext cx="2980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Linear Regression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171575" y="2562225"/>
            <a:ext cx="28384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Establishing the single-feature baseline for spatial valuation.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676775" y="2200275"/>
            <a:ext cx="2980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Multi-Linear Reg.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676775" y="2562225"/>
            <a:ext cx="28384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Integrating all structural and locational variables for accuracy.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181975" y="2200275"/>
            <a:ext cx="2980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Decision Tree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181975" y="2562225"/>
            <a:ext cx="28384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Building hierarchical logical splits for categorical tiering.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171575" y="4240410"/>
            <a:ext cx="2980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Logistic Regression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171575" y="4602360"/>
            <a:ext cx="28384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Defining linear boundaries for multi-class classification.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4676775" y="4240410"/>
            <a:ext cx="2980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KNN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4676775" y="4602360"/>
            <a:ext cx="28384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Utilizing neighbor proximity for spatial neighborhood grouping.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181975" y="4240410"/>
            <a:ext cx="2980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k-means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181975" y="4602360"/>
            <a:ext cx="28384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Discovering latent property archetypes through clustering.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1575" y="175260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76775" y="175260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975" y="17526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71575" y="379273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76775" y="379273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81975" y="379273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Analytical Toolkit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71500" y="1590675"/>
            <a:ext cx="44196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1" i="0" u="none" strike="noStrike" cap="none">
                <a:solidFill>
                  <a:srgbClr val="3B82F6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12k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3314365"/>
            <a:ext cx="4419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Observations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762625" y="1476375"/>
            <a:ext cx="61507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Comprehensive Feature Space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572250" y="1943100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5 Economic Hubs: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Mumbai, Bangalore, Hyderabad, Pune, Nagpur.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572250" y="2695575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21 Attributes: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Structural, Geographical, and Social metrics.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6572250" y="3143250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Risk Indices: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Local crime index and proximity to security infra.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25" y="19954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3625" y="27479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25" y="31956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Dataset Characteristics &amp; Scope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7637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763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1381125" y="1628775"/>
            <a:ext cx="47148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Physical Guards: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Validated that </a:t>
            </a: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Carpet Area ≤ Super-Built Area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for every record.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381125" y="2381250"/>
            <a:ext cx="47148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Vertical Limits: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Cross-verified that </a:t>
            </a: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Unit Floor ≤ Total Floors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of the structure.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381125" y="3133725"/>
            <a:ext cx="47148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Outlier Preservation: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Intentionally maintained 545 luxury points to ensure accurate elite market modeling.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1681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43363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31861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Data Engineering &amp; Integrity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72203" y="1900237"/>
            <a:ext cx="44291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One-Hot Encoding: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Transformed nominal cities and furnishing status into binary indicator variables.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447729" y="1900237"/>
            <a:ext cx="44291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Standard Scaling: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Applied Z-score standardization ($\mu=0, \sigma=1$) to prevent feature dominance.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4049423" y="4026246"/>
            <a:ext cx="44291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Evaluation Split: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Locked 80/20 train-test partitioning for rigorous validation.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320" y="19859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2144" y="1974056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94370" y="411197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762000" y="5715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Preprocessing &amp; Scalability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19"/>
          <p:cNvGraphicFramePr/>
          <p:nvPr>
            <p:extLst>
              <p:ext uri="{D42A27DB-BD31-4B8C-83A1-F6EECF244321}">
                <p14:modId xmlns:p14="http://schemas.microsoft.com/office/powerpoint/2010/main" val="1812587124"/>
              </p:ext>
            </p:extLst>
          </p:nvPr>
        </p:nvGraphicFramePr>
        <p:xfrm>
          <a:off x="571500" y="1476375"/>
          <a:ext cx="11049025" cy="2638400"/>
        </p:xfrm>
        <a:graphic>
          <a:graphicData uri="http://schemas.openxmlformats.org/drawingml/2006/table">
            <a:tbl>
              <a:tblPr firstRow="1" bandRow="1">
                <a:noFill/>
                <a:tableStyleId>{AA75DF07-1F6D-416E-947E-4654036944EE}</a:tableStyleId>
              </a:tblPr>
              <a:tblGrid>
                <a:gridCol w="34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Algorithm Configuration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Testing Accuracy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Macro F1-Score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Strategic Assessment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Logistic Regression (L2)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97.00%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0.97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Optimal Linear Boundaries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Decision Tree Classifier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91.00%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0.91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Highly Interpretable Splits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K-Nearest Neighbors (KNN)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76.42%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0.76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Impacted by Spatial Noise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" name="Google Shape;195;p19"/>
          <p:cNvSpPr/>
          <p:nvPr/>
        </p:nvSpPr>
        <p:spPr>
          <a:xfrm>
            <a:off x="571500" y="2114550"/>
            <a:ext cx="3409801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981301" y="2114550"/>
            <a:ext cx="2265164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246465" y="2114550"/>
            <a:ext cx="2156668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8403133" y="2114550"/>
            <a:ext cx="3217366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1500" y="2786062"/>
            <a:ext cx="34098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981301" y="2786062"/>
            <a:ext cx="22651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246465" y="2786062"/>
            <a:ext cx="21566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8403133" y="2786062"/>
            <a:ext cx="32173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71500" y="3443287"/>
            <a:ext cx="34098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981301" y="3443287"/>
            <a:ext cx="22651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246465" y="3443287"/>
            <a:ext cx="21566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8403133" y="3443287"/>
            <a:ext cx="32173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71500" y="4100512"/>
            <a:ext cx="34098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3981301" y="4100512"/>
            <a:ext cx="22651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246465" y="4100512"/>
            <a:ext cx="21566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403133" y="4100512"/>
            <a:ext cx="32173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762000" y="571500"/>
            <a:ext cx="11401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Phase 1: Locality Classification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538162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76375"/>
            <a:ext cx="53816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952500" y="1857375"/>
            <a:ext cx="48506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82F6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Why Logistic Regression Won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952500" y="2324100"/>
            <a:ext cx="461962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97% accuracy achieved by Logistic Regression demonstrates that Indian property tiers (Budget, Mid, Premium) are </a:t>
            </a: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highly linearly separable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once price-to-size ratios are normalized.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619875" y="1857375"/>
            <a:ext cx="48506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82F6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Challenge for KNN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619875" y="2324100"/>
            <a:ext cx="46196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Multi-dimensional distance noise in high-density metros reduced KNN's effectiveness, as similar prices did not always correlate to similar geographic proximity.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Insight: Linear Separability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38500"/>
            <a:ext cx="11049000" cy="1302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857250" y="3429660"/>
            <a:ext cx="104775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Transitioning to 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Multi-Linear Regression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captures 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37.2% more variance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and cuts average prediction errors in half.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Phase 2: Continuous Price Prediction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7637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763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381125" y="1628775"/>
            <a:ext cx="44291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Locational Alpha: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Market price is heavily dictated by city-specific indicator variables.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1381125" y="2381250"/>
            <a:ext cx="44291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Structural Age: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Property age provides a significant negative weight in the Multi-Linear equation.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1381125" y="3133725"/>
            <a:ext cx="44291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Connectivity: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Metro proximity scores add high predictive value in Tier 1 cities.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168116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43363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318611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Regression Performance Drivers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14763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1476375"/>
            <a:ext cx="1285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6381750" y="2300287"/>
            <a:ext cx="55006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Unsupervised Discovery (k-means)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6381750" y="2576512"/>
            <a:ext cx="52387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By mapping Euclidean distance across price, size, and layout, </a:t>
            </a:r>
            <a:r>
              <a:rPr lang="en-US" sz="1600" b="1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k-means</a:t>
            </a: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successfully isolated latent socioeconomic property brackets.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7191375" y="3729037"/>
            <a:ext cx="44291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Discovery: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Natural grouping without target labels.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7191375" y="4176712"/>
            <a:ext cx="44291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Profiling: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Segments differentiate based on socioeconomic density.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7814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4229100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Phase 3: Market Segmentation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0965A-E1C9-C4EB-E889-7828CC33F84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18139" t="-20495" r="-20057" b="-15039"/>
          <a:stretch>
            <a:fillRect/>
          </a:stretch>
        </p:blipFill>
        <p:spPr>
          <a:xfrm>
            <a:off x="1016220" y="1535332"/>
            <a:ext cx="4286250" cy="4095749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24"/>
          <p:cNvGraphicFramePr/>
          <p:nvPr>
            <p:extLst>
              <p:ext uri="{D42A27DB-BD31-4B8C-83A1-F6EECF244321}">
                <p14:modId xmlns:p14="http://schemas.microsoft.com/office/powerpoint/2010/main" val="1738855826"/>
              </p:ext>
            </p:extLst>
          </p:nvPr>
        </p:nvGraphicFramePr>
        <p:xfrm>
          <a:off x="571500" y="1476375"/>
          <a:ext cx="11049000" cy="2638400"/>
        </p:xfrm>
        <a:graphic>
          <a:graphicData uri="http://schemas.openxmlformats.org/drawingml/2006/table">
            <a:tbl>
              <a:tblPr firstRow="1" bandRow="1">
                <a:noFill/>
                <a:tableStyleId>{AA75DF07-1F6D-416E-947E-4654036944EE}</a:tableStyleId>
              </a:tblPr>
              <a:tblGrid>
                <a:gridCol w="269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Cluster Archetype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Avg. Super Area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Avg. Market Price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Avg. Distance to Center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Luxury Elite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1,677 sqft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₹2.14 Crores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10.6 km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Mid-Market Core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1,082 </a:t>
                      </a: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sqft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₹1.10 Crores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11.2 km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Suburban Budget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741 sqft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₹57.36 Lakhs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18.0 km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2" name="Google Shape;272;p24"/>
          <p:cNvSpPr/>
          <p:nvPr/>
        </p:nvSpPr>
        <p:spPr>
          <a:xfrm>
            <a:off x="571500" y="2114550"/>
            <a:ext cx="2691556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263056" y="2114550"/>
            <a:ext cx="2395388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658445" y="2114550"/>
            <a:ext cx="2637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8296126" y="2114550"/>
            <a:ext cx="3324373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571500" y="2786062"/>
            <a:ext cx="26915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263056" y="2786062"/>
            <a:ext cx="23953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5658445" y="2786062"/>
            <a:ext cx="26376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8296126" y="2786062"/>
            <a:ext cx="33243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71500" y="3443287"/>
            <a:ext cx="26915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3263056" y="3443287"/>
            <a:ext cx="23953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5658445" y="3443287"/>
            <a:ext cx="26376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8296126" y="3443287"/>
            <a:ext cx="33243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571500" y="4100512"/>
            <a:ext cx="269155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3263056" y="4100512"/>
            <a:ext cx="239538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5658445" y="4100512"/>
            <a:ext cx="263768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8296126" y="4100512"/>
            <a:ext cx="33243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Identified Property Archetypes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" y="1476375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650" y="1476375"/>
            <a:ext cx="3314700" cy="184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3850" y="1476375"/>
            <a:ext cx="3314700" cy="18496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171575" y="2200275"/>
            <a:ext cx="298037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Automated Appraisal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1171575" y="2562225"/>
            <a:ext cx="2838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Deploying Multi-Linear models for objective price validation in banking.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4676775" y="2200275"/>
            <a:ext cx="298037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Precision Targeting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4676775" y="2562225"/>
            <a:ext cx="2838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Using k-means clusters to tailor developer marketing toward 'Elite' buyer personas.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8181975" y="2200275"/>
            <a:ext cx="298037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Roadmap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8181975" y="2562225"/>
            <a:ext cx="2838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Future integration of real-time interest rate sensitivity and localized sentiment indices.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4" name="Google Shape;30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1575" y="17526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76775" y="17526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975" y="1752600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762000" y="5715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Conclusions &amp; Operationalization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 txBox="1"/>
          <p:nvPr/>
        </p:nvSpPr>
        <p:spPr>
          <a:xfrm>
            <a:off x="3920728" y="835372"/>
            <a:ext cx="435054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Thank You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5429250" y="2168872"/>
            <a:ext cx="1333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1608084" y="2607022"/>
            <a:ext cx="91755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CBD5E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"Leveraging multi-dimensional machine learning architectures to unlock transparency, certainty, and data-driven intelligence across the Indian housing market."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2867025" y="3871588"/>
            <a:ext cx="64581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HOUSE PRICE PREDICTION — INTERNSHIP PROJECT CONCLUSION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3333750" y="4445025"/>
            <a:ext cx="4757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B82F6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Presented by: MODASSIR QUAISAR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9" name="Google Shape;31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2583" y="5230810"/>
            <a:ext cx="552450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8797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/>
          <p:nvPr/>
        </p:nvSpPr>
        <p:spPr>
          <a:xfrm>
            <a:off x="571500" y="14763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571500" y="226114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71500" y="324400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71500" y="22516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71500" y="22516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571500" y="32344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71500" y="32344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571500" y="4217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571500" y="4217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34" name="Google Shape;33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57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1666875" y="1619250"/>
            <a:ext cx="99536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https://talatiandpartners.com/wp-content/uploads/2022/12/mobileslider360X270-luxury-residences-copy-2.webp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1666875" y="1864965"/>
            <a:ext cx="99536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Source: </a:t>
            </a:r>
            <a:r>
              <a:rPr lang="en-US" sz="1600" b="0" i="0" u="none" strike="noStrike" cap="none">
                <a:solidFill>
                  <a:srgbClr val="4F46E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talatiandpartners.com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0" name="Google Shape;34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45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1666875" y="2398909"/>
            <a:ext cx="99536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https://static.vecteezy.com/system/resources/previews/078/765/353/non_2x/abstract-technology-screen-background-with-circular-data-visualization-futuristic-digital-analytics-charts-with-glowing-interface-elements-big-data-monitoring-dashboard-concept-vector.jpg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1666875" y="2842715"/>
            <a:ext cx="99536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Source: </a:t>
            </a:r>
            <a:r>
              <a:rPr lang="en-US" sz="1600" b="0" i="0" u="none" strike="noStrike" cap="none">
                <a:solidFill>
                  <a:srgbClr val="4F46E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www.vecteezy.com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3" name="Google Shape;34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883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 txBox="1"/>
          <p:nvPr/>
        </p:nvSpPr>
        <p:spPr>
          <a:xfrm>
            <a:off x="1666875" y="3371256"/>
            <a:ext cx="99536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https://boraberan.wordpress.com/wp-content/uploads/2015/12/particles.gif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Google Shape;345;p27"/>
          <p:cNvSpPr txBox="1"/>
          <p:nvPr/>
        </p:nvSpPr>
        <p:spPr>
          <a:xfrm>
            <a:off x="1666875" y="3627485"/>
            <a:ext cx="99536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Source: </a:t>
            </a:r>
            <a:r>
              <a:rPr lang="en-US" sz="1600" b="0" i="0" u="none" strike="noStrike" cap="none" dirty="0">
                <a:solidFill>
                  <a:srgbClr val="4F46E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boraberan.wordpress.com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Image Sources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571500" y="571500"/>
            <a:ext cx="9525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Office PowerPoint</Application>
  <PresentationFormat>Widescreen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Poppins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Modassir Quaisar</cp:lastModifiedBy>
  <cp:revision>1</cp:revision>
  <dcterms:modified xsi:type="dcterms:W3CDTF">2026-05-22T19:11:00Z</dcterms:modified>
</cp:coreProperties>
</file>